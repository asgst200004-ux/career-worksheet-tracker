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handoutMasterIdLst>
    <p:handoutMasterId r:id="rId2"/>
  </p:handoutMasterIdLst>
  <p:sldIdLst>
    <p:sldId id="256" r:id="rId3"/>
    <p:sldId id="259" r:id="rId4"/>
    <p:sldId id="260" r:id="rId5"/>
    <p:sldId id="261" r:id="rId6"/>
    <p:sldId id="257" r:id="rId7"/>
    <p:sldId id="263" r:id="rId8"/>
    <p:sldId id="262" r:id="rId9"/>
    <p:sldId id="264" r:id="rId14"/>
    <p:sldId id="265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prnWhat="handouts4"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49"/>
        <p:guide pos="383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2026-09-29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1061292"/>
            <a:ext cx="10363198" cy="2539157"/>
          </a:xfrm>
          <a:gradFill flip="xy" rotWithShape="1">
            <a:gsLst>
              <a:gs pos="10000">
                <a:srgbClr val="d2c6fe">
                  <a:alpha val="7000"/>
                </a:srgbClr>
              </a:gs>
              <a:gs pos="67000">
                <a:srgbClr val="ebdafe">
                  <a:alpha val="100000"/>
                </a:srgbClr>
              </a:gs>
              <a:gs pos="100000">
                <a:srgbClr val="cfa3fb">
                  <a:alpha val="100000"/>
                </a:srgbClr>
              </a:gs>
            </a:gsLst>
            <a:lin ang="5400000" scaled="1"/>
            <a:tileRect/>
          </a:gradFill>
        </p:spPr>
        <p:txBody>
          <a:bodyPr/>
          <a:lstStyle/>
          <a:p>
            <a:pPr lvl="0">
              <a:defRPr/>
            </a:pPr>
            <a:r>
              <a:rPr lang="ko-KR" altLang="en-US" sz="8600">
                <a:latin typeface="한컴 말랑말랑 Bold"/>
                <a:ea typeface="한컴 말랑말랑 Bold"/>
              </a:rPr>
              <a:t>꿈</a:t>
            </a:r>
            <a:r>
              <a:rPr lang="en-US" altLang="ko-KR" sz="8600">
                <a:latin typeface="한컴 말랑말랑 Bold"/>
                <a:ea typeface="한컴 말랑말랑 Bold"/>
              </a:rPr>
              <a:t>IT(</a:t>
            </a:r>
            <a:r>
              <a:rPr lang="ko-KR" altLang="en-US" sz="8600">
                <a:latin typeface="한컴 말랑말랑 Bold"/>
                <a:ea typeface="한컴 말랑말랑 Bold"/>
              </a:rPr>
              <a:t>잇</a:t>
            </a:r>
            <a:r>
              <a:rPr lang="en-US" altLang="ko-KR" sz="8600">
                <a:latin typeface="한컴 말랑말랑 Bold"/>
                <a:ea typeface="한컴 말랑말랑 Bold"/>
              </a:rPr>
              <a:t>)</a:t>
            </a:r>
            <a:r>
              <a:rPr lang="ko-KR" altLang="en-US" sz="8600">
                <a:latin typeface="한컴 말랑말랑 Bold"/>
                <a:ea typeface="한컴 말랑말랑 Bold"/>
              </a:rPr>
              <a:t>다 소개</a:t>
            </a:r>
            <a:endParaRPr lang="ko-KR" altLang="en-US" sz="8600">
              <a:latin typeface="한컴 말랑말랑 Bold"/>
              <a:ea typeface="한컴 말랑말랑 Bold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990974"/>
            <a:ext cx="8534399" cy="2034462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>
                <a:solidFill>
                  <a:srgbClr val="4040ff"/>
                </a:solidFill>
                <a:latin typeface="한컴 말랑말랑 Bold"/>
                <a:ea typeface="한컴 말랑말랑 Bold"/>
              </a:rPr>
              <a:t/>
            </a:r>
            <a:endParaRPr lang="ko-KR" altLang="en-US">
              <a:solidFill>
                <a:srgbClr val="4040ff"/>
              </a:solidFill>
              <a:latin typeface="한컴 말랑말랑 Bold"/>
              <a:ea typeface="한컴 말랑말랑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00035" y="444501"/>
            <a:ext cx="10968320" cy="631824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9440333" y="339574"/>
            <a:ext cx="888999" cy="644675"/>
          </a:xfrm>
          <a:prstGeom prst="rect">
            <a:avLst/>
          </a:prstGeom>
          <a:noFill/>
          <a:ln w="76200" cap="rnd" cmpd="thickThin">
            <a:solidFill>
              <a:srgbClr val="ff0000"/>
            </a:solidFill>
            <a:prstDash val="solid"/>
            <a:round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1774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609600"/>
            <a:ext cx="10972798" cy="4525963"/>
          </a:xfrm>
        </p:spPr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38931" y="121707"/>
            <a:ext cx="10314138" cy="574569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335992" y="4372884"/>
            <a:ext cx="3481916" cy="644675"/>
          </a:xfrm>
          <a:prstGeom prst="rect">
            <a:avLst/>
          </a:prstGeom>
          <a:noFill/>
          <a:ln w="76200" cap="rnd" cmpd="thickThin">
            <a:solidFill>
              <a:srgbClr val="ff0000"/>
            </a:solidFill>
            <a:prstDash val="solid"/>
            <a:round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155999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38214" y="125444"/>
            <a:ext cx="9123988" cy="673255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947460" y="5165246"/>
            <a:ext cx="2952748" cy="835176"/>
          </a:xfrm>
          <a:prstGeom prst="rect">
            <a:avLst/>
          </a:prstGeom>
          <a:noFill/>
          <a:ln w="76200" cap="rnd" cmpd="thickThin">
            <a:solidFill>
              <a:srgbClr val="ff0000"/>
            </a:solidFill>
            <a:prstDash val="solid"/>
            <a:round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599" y="1305912"/>
            <a:ext cx="10972798" cy="555208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100107" y="1706940"/>
            <a:ext cx="6371843" cy="500214"/>
          </a:xfrm>
          <a:prstGeom prst="rect">
            <a:avLst/>
          </a:prstGeom>
          <a:noFill/>
          <a:ln w="76200" cap="rnd" cmpd="thickThin">
            <a:solidFill>
              <a:srgbClr val="ff0000"/>
            </a:solidFill>
            <a:prstDash val="solid"/>
            <a:round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883108"/>
          </a:xfrm>
          <a:solidFill>
            <a:srgbClr val="b3ffb3">
              <a:alpha val="50000"/>
            </a:srgbClr>
          </a:solidFill>
        </p:spPr>
        <p:txBody>
          <a:bodyPr>
            <a:noAutofit/>
          </a:bodyPr>
          <a:lstStyle/>
          <a:p>
            <a:pPr lvl="0">
              <a:defRPr/>
            </a:pPr>
            <a:r>
              <a:rPr lang="ko-KR" altLang="en-US" sz="3600">
                <a:solidFill>
                  <a:srgbClr val="930093"/>
                </a:solidFill>
                <a:latin typeface="한컴 말랑말랑 Bold"/>
                <a:ea typeface="한컴 말랑말랑 Bold"/>
              </a:rPr>
              <a:t>꿈잇다 메뉴 구경하기</a:t>
            </a:r>
            <a:endParaRPr lang="ko-KR" altLang="en-US" sz="3600">
              <a:solidFill>
                <a:srgbClr val="930093"/>
              </a:solidFill>
              <a:latin typeface="한컴 말랑말랑 Bold"/>
              <a:ea typeface="한컴 말랑말랑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27891" y="0"/>
            <a:ext cx="10432229" cy="68580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170531" y="2481566"/>
            <a:ext cx="1003164" cy="607978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7095696" y="1417638"/>
            <a:ext cx="2988035" cy="364955"/>
          </a:xfrm>
          <a:prstGeom prst="rect">
            <a:avLst/>
          </a:prstGeom>
          <a:solidFill>
            <a:srgbClr val="6182d6">
              <a:alpha val="100000"/>
            </a:srgbClr>
          </a:solidFill>
          <a:ln w="19050" cap="flat" cmpd="sng" algn="ctr">
            <a:solidFill>
              <a:srgbClr val="2e3e67">
                <a:alpha val="100000"/>
              </a:srgbClr>
            </a:solidFill>
            <a:prstDash val="solid"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149917" y="4850111"/>
            <a:ext cx="3945779" cy="1828207"/>
          </a:xfrm>
          <a:prstGeom prst="rect">
            <a:avLst/>
          </a:prstGeom>
          <a:noFill/>
          <a:ln w="76200" cap="rnd" cmpd="thickThin" algn="ctr">
            <a:solidFill>
              <a:srgbClr val="ff0000">
                <a:alpha val="100000"/>
              </a:srgbClr>
            </a:solidFill>
            <a:prstDash val="solid"/>
            <a:round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193460" y="76011"/>
            <a:ext cx="10036810" cy="6705977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797367" y="4850111"/>
            <a:ext cx="3945779" cy="1828207"/>
          </a:xfrm>
          <a:prstGeom prst="rect">
            <a:avLst/>
          </a:prstGeom>
          <a:noFill/>
          <a:ln w="76200" cap="rnd" cmpd="thickThin" algn="ctr">
            <a:solidFill>
              <a:srgbClr val="ff0000">
                <a:alpha val="100000"/>
              </a:srgbClr>
            </a:solidFill>
            <a:prstDash val="solid"/>
            <a:round/>
          </a:ln>
        </p:spPr>
        <p:txBody>
          <a:bodyPr anchor="ctr"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400" b="1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고등학교 진로·학업설계 지원 자료 안내</a:t>
            </a:r>
            <a:endParaRPr lang="en-US" sz="340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600">
                <a:solidFill>
                  <a:srgbClr val="555b6e"/>
                </a:solidFill>
                <a:latin typeface="맑은 고딕"/>
                <a:ea typeface="맑은 고딕"/>
                <a:cs typeface="맑은 고딕"/>
              </a:rPr>
              <a:t>단위학교 전달연수 · 자료 다운로드 방법과 안내서 구성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206240" cy="4572000"/>
          </a:xfrm>
          <a:prstGeom prst="roundRect">
            <a:avLst>
              <a:gd name="adj" fmla="val 3261"/>
            </a:avLst>
          </a:prstGeom>
          <a:solidFill>
            <a:srgbClr val="1f2a5c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089785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자료 다운로드 방법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822960" y="2729865"/>
            <a:ext cx="548640" cy="548640"/>
          </a:xfrm>
          <a:prstGeom prst="ellipse">
            <a:avLst/>
          </a:prstGeom>
          <a:solidFill>
            <a:srgbClr val="e8702a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72986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lang="en-US" sz="2000"/>
          </a:p>
        </p:txBody>
      </p:sp>
      <p:sp>
        <p:nvSpPr>
          <p:cNvPr id="8" name="Text 6"/>
          <p:cNvSpPr txBox="1"/>
          <p:nvPr/>
        </p:nvSpPr>
        <p:spPr>
          <a:xfrm>
            <a:off x="1554480" y="2711577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‘꿈it(잇)다’ 사이트 접속</a:t>
            </a:r>
            <a:endParaRPr lang="en-US" sz="1700"/>
          </a:p>
        </p:txBody>
      </p:sp>
      <p:sp>
        <p:nvSpPr>
          <p:cNvPr id="9" name="Text 7"/>
          <p:cNvSpPr txBox="1"/>
          <p:nvPr/>
        </p:nvSpPr>
        <p:spPr>
          <a:xfrm>
            <a:off x="1554480" y="3059049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rgbClr val="cadcfc"/>
                </a:solidFill>
                <a:latin typeface="맑은 고딕"/>
                <a:ea typeface="맑은 고딕"/>
                <a:cs typeface="맑은 고딕"/>
              </a:rPr>
              <a:t>교사 로그인 필수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822960" y="3781425"/>
            <a:ext cx="548640" cy="548640"/>
          </a:xfrm>
          <a:prstGeom prst="ellipse">
            <a:avLst/>
          </a:prstGeom>
          <a:solidFill>
            <a:srgbClr val="e8702a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378142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lang="en-US" sz="2000"/>
          </a:p>
        </p:txBody>
      </p:sp>
      <p:sp>
        <p:nvSpPr>
          <p:cNvPr id="12" name="Text 10"/>
          <p:cNvSpPr txBox="1"/>
          <p:nvPr/>
        </p:nvSpPr>
        <p:spPr>
          <a:xfrm>
            <a:off x="1554480" y="3763137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[자료실] 클릭</a:t>
            </a:r>
            <a:endParaRPr lang="en-US" sz="1700"/>
          </a:p>
        </p:txBody>
      </p:sp>
      <p:sp>
        <p:nvSpPr>
          <p:cNvPr id="13" name="Shape 11"/>
          <p:cNvSpPr/>
          <p:nvPr/>
        </p:nvSpPr>
        <p:spPr>
          <a:xfrm>
            <a:off x="822960" y="4832985"/>
            <a:ext cx="548640" cy="548640"/>
          </a:xfrm>
          <a:prstGeom prst="ellipse">
            <a:avLst/>
          </a:prstGeom>
          <a:solidFill>
            <a:srgbClr val="e8702a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483298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lang="en-US" sz="2000"/>
          </a:p>
        </p:txBody>
      </p:sp>
      <p:sp>
        <p:nvSpPr>
          <p:cNvPr id="15" name="Text 13"/>
          <p:cNvSpPr txBox="1"/>
          <p:nvPr/>
        </p:nvSpPr>
        <p:spPr>
          <a:xfrm>
            <a:off x="1554480" y="4814697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[진로교육자료] 선택</a:t>
            </a:r>
            <a:endParaRPr lang="en-US" sz="1700"/>
          </a:p>
        </p:txBody>
      </p:sp>
      <p:sp>
        <p:nvSpPr>
          <p:cNvPr id="16" name="Text 14"/>
          <p:cNvSpPr txBox="1"/>
          <p:nvPr/>
        </p:nvSpPr>
        <p:spPr>
          <a:xfrm>
            <a:off x="1554480" y="5162169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300">
                <a:solidFill>
                  <a:srgbClr val="cadcfc"/>
                </a:solidFill>
                <a:latin typeface="맑은 고딕"/>
                <a:ea typeface="맑은 고딕"/>
                <a:cs typeface="맑은 고딕"/>
              </a:rPr>
              <a:t>총 8종 자료 탑재</a:t>
            </a:r>
            <a:endParaRPr lang="en-US" sz="1300"/>
          </a:p>
        </p:txBody>
      </p:sp>
      <p:sp>
        <p:nvSpPr>
          <p:cNvPr id="18" name="Text 16"/>
          <p:cNvSpPr txBox="1"/>
          <p:nvPr/>
        </p:nvSpPr>
        <p:spPr>
          <a:xfrm>
            <a:off x="5120640" y="15544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800" b="1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진로·진학 상담 안내서 3종 구성</a:t>
            </a:r>
            <a:endParaRPr lang="en-US" sz="1800"/>
          </a:p>
        </p:txBody>
      </p:sp>
      <p:sp>
        <p:nvSpPr>
          <p:cNvPr id="19" name="Shape 17"/>
          <p:cNvSpPr/>
          <p:nvPr/>
        </p:nvSpPr>
        <p:spPr>
          <a:xfrm>
            <a:off x="5120640" y="2057400"/>
            <a:ext cx="6492240" cy="960120"/>
          </a:xfrm>
          <a:prstGeom prst="roundRect">
            <a:avLst>
              <a:gd name="adj" fmla="val 9524"/>
            </a:avLst>
          </a:prstGeom>
          <a:solidFill>
            <a:srgbClr val="eef3fa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303520" y="2258568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5303520" y="22585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총론</a:t>
            </a:r>
            <a:endParaRPr lang="en-US" sz="1500"/>
          </a:p>
        </p:txBody>
      </p:sp>
      <p:sp>
        <p:nvSpPr>
          <p:cNvPr id="22" name="Text 20"/>
          <p:cNvSpPr txBox="1"/>
          <p:nvPr/>
        </p:nvSpPr>
        <p:spPr>
          <a:xfrm>
            <a:off x="667512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600" b="1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교육과정 연계 진로·학업설계</a:t>
            </a:r>
            <a:endParaRPr lang="en-US" sz="1600"/>
          </a:p>
        </p:txBody>
      </p:sp>
      <p:sp>
        <p:nvSpPr>
          <p:cNvPr id="23" name="Text 21"/>
          <p:cNvSpPr txBox="1"/>
          <p:nvPr/>
        </p:nvSpPr>
        <p:spPr>
          <a:xfrm>
            <a:off x="6675120" y="2514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555b6e"/>
                </a:solidFill>
                <a:latin typeface="맑은 고딕"/>
                <a:ea typeface="맑은 고딕"/>
                <a:cs typeface="맑은 고딕"/>
              </a:rPr>
              <a:t>고교학점제·대입 전형의 이해, 진로전담교사의 역할, 과목 매칭 가이드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5120640" y="3154680"/>
            <a:ext cx="6492240" cy="960120"/>
          </a:xfrm>
          <a:prstGeom prst="roundRect">
            <a:avLst>
              <a:gd name="adj" fmla="val 9524"/>
            </a:avLst>
          </a:prstGeom>
          <a:solidFill>
            <a:srgbClr val="eef3fa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303520" y="3355848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5303520" y="33558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실천편 Ⅰ</a:t>
            </a:r>
            <a:endParaRPr lang="en-US" sz="1500"/>
          </a:p>
        </p:txBody>
      </p:sp>
      <p:sp>
        <p:nvSpPr>
          <p:cNvPr id="27" name="Text 25"/>
          <p:cNvSpPr txBox="1"/>
          <p:nvPr/>
        </p:nvSpPr>
        <p:spPr>
          <a:xfrm>
            <a:off x="667512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600" b="1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진로 설계 및 진로 변경 지도</a:t>
            </a:r>
            <a:endParaRPr lang="en-US" sz="1600"/>
          </a:p>
        </p:txBody>
      </p:sp>
      <p:sp>
        <p:nvSpPr>
          <p:cNvPr id="28" name="Text 26"/>
          <p:cNvSpPr txBox="1"/>
          <p:nvPr/>
        </p:nvSpPr>
        <p:spPr>
          <a:xfrm>
            <a:off x="6675120" y="3611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555b6e"/>
                </a:solidFill>
                <a:latin typeface="맑은 고딕"/>
                <a:ea typeface="맑은 고딕"/>
                <a:cs typeface="맑은 고딕"/>
              </a:rPr>
              <a:t>GROW 코칭·SMART 목표, 5대 진로 변경 유형, 상담 7단계, 7가지 사례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5120640" y="4251960"/>
            <a:ext cx="6492240" cy="960120"/>
          </a:xfrm>
          <a:prstGeom prst="roundRect">
            <a:avLst>
              <a:gd name="adj" fmla="val 9524"/>
            </a:avLst>
          </a:prstGeom>
          <a:solidFill>
            <a:srgbClr val="eef3fa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303520" y="4453128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5303520" y="44531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실천편 Ⅱ</a:t>
            </a:r>
            <a:endParaRPr lang="en-US" sz="1500"/>
          </a:p>
        </p:txBody>
      </p:sp>
      <p:sp>
        <p:nvSpPr>
          <p:cNvPr id="32" name="Text 30"/>
          <p:cNvSpPr txBox="1"/>
          <p:nvPr/>
        </p:nvSpPr>
        <p:spPr>
          <a:xfrm>
            <a:off x="6675120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600" b="1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과목 선택 및 이수, 학업 관리 지도</a:t>
            </a:r>
            <a:endParaRPr lang="en-US" sz="1600"/>
          </a:p>
        </p:txBody>
      </p:sp>
      <p:sp>
        <p:nvSpPr>
          <p:cNvPr id="33" name="Text 31"/>
          <p:cNvSpPr txBox="1"/>
          <p:nvPr/>
        </p:nvSpPr>
        <p:spPr>
          <a:xfrm>
            <a:off x="6675120" y="4709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555b6e"/>
                </a:solidFill>
                <a:latin typeface="맑은 고딕"/>
                <a:ea typeface="맑은 고딕"/>
                <a:cs typeface="맑은 고딕"/>
              </a:rPr>
              <a:t>교과 체계·성적 산출, 과목 설계 5단계, 생기부 관리, 직업계고 학점제</a:t>
            </a:r>
            <a:endParaRPr lang="en-US" sz="1200"/>
          </a:p>
        </p:txBody>
      </p:sp>
      <p:sp>
        <p:nvSpPr>
          <p:cNvPr id="34" name="Shape 32"/>
          <p:cNvSpPr/>
          <p:nvPr/>
        </p:nvSpPr>
        <p:spPr>
          <a:xfrm>
            <a:off x="5120640" y="5394960"/>
            <a:ext cx="6492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5303520" y="539496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함께 탑재된 자료  </a:t>
            </a:r>
            <a:endParaRPr lang="en-US" sz="1400">
              <a:solidFill>
                <a:srgbClr val="1f2a5c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r>
              <a:rPr lang="ko-KR" altLang="en-US" sz="1400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안내서 구성과 활용</a:t>
            </a:r>
            <a:r>
              <a:rPr lang="en-US" altLang="ko-KR" sz="1400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lang="ko-KR" altLang="en-US" sz="1400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 상황별 빠른 가이드는 별도 배부 자료에 있습니다</a:t>
            </a:r>
            <a:r>
              <a:rPr lang="en-US" altLang="ko-KR" sz="1400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.</a:t>
            </a:r>
            <a:r>
              <a:rPr lang="ko-KR" altLang="en-US" sz="1400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 </a:t>
            </a:r>
            <a:endParaRPr lang="ko-KR" altLang="en-US" sz="1400">
              <a:solidFill>
                <a:srgbClr val="1f2a5c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>
              <a:buNone/>
              <a:defRPr/>
            </a:pPr>
            <a:r>
              <a:rPr lang="en-US" sz="1400">
                <a:solidFill>
                  <a:srgbClr val="1f2a5c"/>
                </a:solidFill>
                <a:latin typeface="맑은 고딕"/>
                <a:ea typeface="맑은 고딕"/>
                <a:cs typeface="맑은 고딕"/>
              </a:rPr>
              <a:t>연수 프로그램북 4 · 우수 지도 사례집 1종</a:t>
            </a:r>
            <a:endParaRPr 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학생이 찾아오면?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안내서 「실천편 Ⅱ」 2장 · p.35  |  진로 중심의 진로·학업 설계 지도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1208" y="1463040"/>
            <a:ext cx="2651760" cy="3566160"/>
          </a:xfrm>
          <a:prstGeom prst="rect">
            <a:avLst/>
          </a:prstGeom>
          <a:solidFill>
            <a:srgbClr val="FFF3E6"/>
          </a:solidFill>
          <a:ln w="31750">
            <a:solidFill>
              <a:srgbClr val="2222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00200"/>
            <a:ext cx="237744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4592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선생님, 물리·화학은 성적 받기 어렵다던데… 과목 고르기가 겁나요.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flipV="1">
            <a:off x="1709928" y="318211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pic>
        <p:nvPicPr>
          <p:cNvPr id="8" name="Image 0" descr="c0.png">    </p:cNvPr>
          <p:cNvPicPr>
            <a:picLocks noChangeAspect="1"/>
          </p:cNvPicPr>
          <p:nvPr/>
        </p:nvPicPr>
        <p:blipFill>
          <a:blip r:embed="rId3"/>
          <a:srcRect l="-103" r="-103" t="0" b="0"/>
          <a:stretch/>
        </p:blipFill>
        <p:spPr>
          <a:xfrm>
            <a:off x="1024128" y="3246120"/>
            <a:ext cx="1645920" cy="177393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55848" y="1463040"/>
            <a:ext cx="2651760" cy="3566160"/>
          </a:xfrm>
          <a:prstGeom prst="rect">
            <a:avLst/>
          </a:prstGeom>
          <a:solidFill>
            <a:srgbClr val="EAF4FB"/>
          </a:solidFill>
          <a:ln w="31750">
            <a:solidFill>
              <a:srgbClr val="2222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93008" y="1600200"/>
            <a:ext cx="237744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84448" y="164592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희망 학과가 권장하는 과목부터 보자. 대학 입학처가 공개한 ‘학과별 권장이수과목’ 자료가 있어.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flipV="1">
            <a:off x="4544568" y="318211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pic>
        <p:nvPicPr>
          <p:cNvPr id="14" name="Image 1" descr="c1.png">    </p:cNvPr>
          <p:cNvPicPr>
            <a:picLocks noChangeAspect="1"/>
          </p:cNvPicPr>
          <p:nvPr/>
        </p:nvPicPr>
        <p:blipFill>
          <a:blip r:embed="rId3"/>
          <a:srcRect l="-103" r="-103" t="0" b="0"/>
          <a:stretch/>
        </p:blipFill>
        <p:spPr>
          <a:xfrm>
            <a:off x="3858768" y="3246120"/>
            <a:ext cx="1645920" cy="177393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2900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90488" y="1463040"/>
            <a:ext cx="2651760" cy="3566160"/>
          </a:xfrm>
          <a:prstGeom prst="rect">
            <a:avLst/>
          </a:prstGeom>
          <a:solidFill>
            <a:srgbClr val="EAF4FB"/>
          </a:solidFill>
          <a:ln w="31750">
            <a:solidFill>
              <a:srgbClr val="22222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27648" y="1600200"/>
            <a:ext cx="237744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19088" y="164592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수학·과학은 위계가 있어서 순서가 중요해. 일반선택을 먼저 듣고, 그다음에 진로선택으로 이어 가면 돼.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 flipV="1">
            <a:off x="7379208" y="318211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pic>
        <p:nvPicPr>
          <p:cNvPr id="20" name="Image 2" descr="c2.png">    </p:cNvPr>
          <p:cNvPicPr>
            <a:picLocks noChangeAspect="1"/>
          </p:cNvPicPr>
          <p:nvPr/>
        </p:nvPicPr>
        <p:blipFill>
          <a:blip r:embed="rId3"/>
          <a:srcRect l="-103" r="-103" t="0" b="0"/>
          <a:stretch/>
        </p:blipFill>
        <p:spPr>
          <a:xfrm>
            <a:off x="6693408" y="3246120"/>
            <a:ext cx="1645920" cy="177393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6364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025128" y="1463040"/>
            <a:ext cx="2651760" cy="3566160"/>
          </a:xfrm>
          <a:prstGeom prst="rect">
            <a:avLst/>
          </a:prstGeom>
          <a:solidFill>
            <a:srgbClr val="FFF3E6"/>
          </a:solidFill>
          <a:ln w="31750">
            <a:solidFill>
              <a:srgbClr val="22222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162288" y="1600200"/>
            <a:ext cx="237744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253728" y="164592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아, 겁먹기 전에 이수 순서부터 세워 보면 되는 거군요!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 flipV="1">
            <a:off x="10213848" y="3182112"/>
            <a:ext cx="274320" cy="201168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pic>
        <p:nvPicPr>
          <p:cNvPr id="26" name="Image 3" descr="c3.png">    </p:cNvPr>
          <p:cNvPicPr>
            <a:picLocks noChangeAspect="1"/>
          </p:cNvPicPr>
          <p:nvPr/>
        </p:nvPicPr>
        <p:blipFill>
          <a:blip r:embed="rId4"/>
          <a:srcRect l="-103" r="-103" t="0" b="0"/>
          <a:stretch/>
        </p:blipFill>
        <p:spPr>
          <a:xfrm>
            <a:off x="9528048" y="3246120"/>
            <a:ext cx="1645920" cy="177393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09828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21208" y="5257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1F2A5C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822960" y="53949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2377440" y="5349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위계가 있는 과목은 이수 순서를 점검한다 (일반선택 → 진로선택)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대학 입학처 공개 ‘학과별 권장이수과목’ 자료로 과목을 설계한다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</ep:Words>
  <ep:PresentationFormat>화면 슬라이드 쇼(4:3)</ep:PresentationFormat>
  <ep:Paragraphs>2</ep:Paragraphs>
  <ep:Slides>7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한컴오피스</vt:lpstr>
      <vt:lpstr>꿈IT(잇)다 소개</vt:lpstr>
      <vt:lpstr>슬라이드 2</vt:lpstr>
      <vt:lpstr>슬라이드 3</vt:lpstr>
      <vt:lpstr>슬라이드 4</vt:lpstr>
      <vt:lpstr>꿈잇다 메뉴 구경하기</vt:lpstr>
      <vt:lpstr>슬라이드 6</vt:lpstr>
      <vt:lpstr>슬라이드 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2026-07-01T01:31:17.658</dcterms:created>
  <dc:creator>USER</dc:creator>
  <cp:lastModifiedBy>user</cp:lastModifiedBy>
  <dcterms:modified xsi:type="dcterms:W3CDTF">2026-09-29T08:21:30.527</dcterms:modified>
  <cp:revision>45</cp:revision>
  <dc:title>꿈IT(잇)다 진로검사</dc:title>
  <cp:version>13.0.0.653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