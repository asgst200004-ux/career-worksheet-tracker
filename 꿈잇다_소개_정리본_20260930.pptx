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handoutMasterIdLst>
    <p:handoutMasterId r:id="rId2"/>
  </p:handoutMasterIdLst>
  <p:sldIdLst>
    <p:sldId id="256" r:id="rId3"/>
    <p:sldId id="259" r:id="rId4"/>
    <p:sldId id="260" r:id="rId5"/>
    <p:sldId id="261" r:id="rId6"/>
    <p:sldId id="257" r:id="rId7"/>
    <p:sldId id="263" r:id="rId8"/>
    <p:sldId id="262" r:id="rId9"/>
    <p:sldId id="264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prnWhat="handouts4"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49"/>
        <p:guide pos="3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1061292"/>
            <a:ext cx="10363198" cy="2539157"/>
          </a:xfrm>
          <a:noFill/>
        </p:spPr>
        <p:txBody>
          <a:bodyPr/>
          <a:lstStyle/>
          <a:p>
            <a:pPr lvl="0">
              <a:defRPr/>
            </a:pPr>
            <a:r>
              <a:rPr lang="ko-KR" altLang="en-US" sz="7200" b="1">
                <a:solidFill>
                  <a:srgbClr val="1F2A5C"/>
                </a:solidFill>
                <a:latin typeface="맑은 고딕"/>
                <a:ea typeface="맑은 고딕"/>
              </a:rPr>
              <a:t>꿈</a:t>
            </a:r>
            <a:r>
              <a:rPr lang="en-US" altLang="ko-KR" sz="7200" b="1">
                <a:solidFill>
                  <a:srgbClr val="1F2A5C"/>
                </a:solidFill>
                <a:latin typeface="맑은 고딕"/>
                <a:ea typeface="맑은 고딕"/>
              </a:rPr>
              <a:t>IT(</a:t>
            </a:r>
            <a:r>
              <a:rPr lang="ko-KR" altLang="en-US" sz="7200" b="1">
                <a:solidFill>
                  <a:srgbClr val="1F2A5C"/>
                </a:solidFill>
                <a:latin typeface="맑은 고딕"/>
                <a:ea typeface="맑은 고딕"/>
              </a:rPr>
              <a:t>잇</a:t>
            </a:r>
            <a:r>
              <a:rPr lang="en-US" altLang="ko-KR" sz="7200" b="1">
                <a:solidFill>
                  <a:srgbClr val="1F2A5C"/>
                </a:solidFill>
                <a:latin typeface="맑은 고딕"/>
                <a:ea typeface="맑은 고딕"/>
              </a:rPr>
              <a:t>)</a:t>
            </a:r>
            <a:r>
              <a:rPr lang="ko-KR" altLang="en-US" sz="7200" b="1">
                <a:solidFill>
                  <a:srgbClr val="1F2A5C"/>
                </a:solidFill>
                <a:latin typeface="맑은 고딕"/>
                <a:ea typeface="맑은 고딕"/>
              </a:rPr>
              <a:t>다 소개</a:t>
            </a:r>
            <a:endParaRPr lang="ko-KR" altLang="en-US" sz="7200" b="1">
              <a:latin typeface="맑은 고딕"/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990974"/>
            <a:ext cx="8534399" cy="2034462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>
                <a:solidFill>
                  <a:srgbClr val="4040ff"/>
                </a:solidFill>
                <a:latin typeface="맑은 고딕"/>
                <a:ea typeface="맑은 고딕"/>
              </a:rPr>
              <a:t/>
            </a:r>
            <a:endParaRPr lang="ko-KR" altLang="en-US">
              <a:solidFill>
                <a:srgbClr val="4040f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0035" y="444501"/>
            <a:ext cx="10968320" cy="63182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440333" y="339574"/>
            <a:ext cx="888999" cy="644675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77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609600"/>
            <a:ext cx="10972798" cy="4525963"/>
          </a:xfrm>
        </p:spPr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8931" y="121707"/>
            <a:ext cx="10314138" cy="574569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35992" y="4372884"/>
            <a:ext cx="3481916" cy="644675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15599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38214" y="125444"/>
            <a:ext cx="9123988" cy="673255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947460" y="5165246"/>
            <a:ext cx="2952748" cy="835176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305912"/>
            <a:ext cx="10972798" cy="555208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100107" y="1706940"/>
            <a:ext cx="6371843" cy="500214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 idx="0"/>
          </p:nvPr>
        </p:nvSpPr>
        <p:spPr>
          <a:xfrm>
            <a:off x="548640" y="320040"/>
            <a:ext cx="11064240" cy="640080"/>
          </a:xfrm>
          <a:noFill/>
        </p:spPr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 b="1">
                <a:solidFill>
                  <a:srgbClr val="1F2A5C"/>
                </a:solidFill>
                <a:latin typeface="맑은 고딕"/>
                <a:ea typeface="맑은 고딕"/>
              </a:rPr>
              <a:t>꿈잇다 메뉴 구경하기</a:t>
            </a:r>
            <a:endParaRPr lang="ko-KR" altLang="en-US" sz="3400" b="1">
              <a:solidFill>
                <a:srgbClr val="1F2A5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7891" y="0"/>
            <a:ext cx="10432229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70531" y="2481566"/>
            <a:ext cx="1003164" cy="60797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095696" y="1417638"/>
            <a:ext cx="2988035" cy="364955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49917" y="4850111"/>
            <a:ext cx="3945779" cy="1828207"/>
          </a:xfrm>
          <a:prstGeom prst="rect">
            <a:avLst/>
          </a:prstGeom>
          <a:noFill/>
          <a:ln w="76200" cap="rnd" cmpd="thickThin" algn="ctr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193460" y="76011"/>
            <a:ext cx="10036810" cy="670597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97367" y="4850111"/>
            <a:ext cx="3945779" cy="1828207"/>
          </a:xfrm>
          <a:prstGeom prst="rect">
            <a:avLst/>
          </a:prstGeom>
          <a:noFill/>
          <a:ln w="76200" cap="rnd" cmpd="thickThin" algn="ctr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4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고등학교 진로·학업설계 지원 자료 안내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단위학교 전달연수 · 자료 다운로드 방법과 안내서 구성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f2a5c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89785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자료 다운로드 방법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822960" y="272986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72986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1554480" y="271157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‘꿈it(잇)다’ 사이트 접속</a:t>
            </a:r>
            <a:endParaRPr lang="en-US" sz="1700"/>
          </a:p>
        </p:txBody>
      </p:sp>
      <p:sp>
        <p:nvSpPr>
          <p:cNvPr id="9" name="Text 7"/>
          <p:cNvSpPr txBox="1"/>
          <p:nvPr/>
        </p:nvSpPr>
        <p:spPr>
          <a:xfrm>
            <a:off x="1554480" y="305904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교사 로그인 필수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22960" y="378142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7814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554480" y="376313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[자료실] 클릭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822960" y="483298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8329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1554480" y="481469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[진로교육자료] 선택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1554480" y="516216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총 8종 자료 탑재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12064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진로·진학 상담 안내서 3종 구성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5120640" y="205740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303520" y="225856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303520" y="22585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총론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교육과정 연계 진로·학업설계</a:t>
            </a:r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667512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고교학점제·대입 전형의 이해, 진로전담교사의 역할, 과목 매칭 가이드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120640" y="315468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03520" y="335584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5303520" y="3355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실천편 Ⅰ</a:t>
            </a:r>
            <a:endParaRPr lang="en-US" sz="1500"/>
          </a:p>
        </p:txBody>
      </p:sp>
      <p:sp>
        <p:nvSpPr>
          <p:cNvPr id="27" name="Text 25"/>
          <p:cNvSpPr txBox="1"/>
          <p:nvPr/>
        </p:nvSpPr>
        <p:spPr>
          <a:xfrm>
            <a:off x="66751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진로 설계 및 진로 변경 지도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67512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GROW 코칭·SMART 목표, 5대 진로 변경 유형, 상담 7단계, 7가지 사례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120640" y="425196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303520" y="445312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303520" y="44531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실천편 Ⅱ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667512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과목 선택 및 이수, 학업 관리 지도</a:t>
            </a:r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667512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교과 체계·성적 산출, 과목 설계 5단계, 생기부 관리, 직업계고 학점제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5120640" y="5394960"/>
            <a:ext cx="6492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5303520" y="53949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함께 탑재된 자료  </a:t>
            </a:r>
            <a:endParaRPr lang="en-US" sz="1400">
              <a:solidFill>
                <a:srgbClr val="1f2a5c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안내서 구성과 활용</a:t>
            </a:r>
            <a:r>
              <a:rPr lang="en-US" altLang="ko-KR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 상황별 빠른 가이드는 별도 배부 자료에 있습니다</a:t>
            </a:r>
            <a:r>
              <a:rPr lang="en-US" altLang="ko-KR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ko-KR" altLang="en-US" sz="1400">
              <a:solidFill>
                <a:srgbClr val="1f2a5c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연수 프로그램북 4 · 우수 지도 사례집 1종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학생이 찾아오면?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안내서 「실천편 Ⅱ」 2장 · p.35  |  진로 중심의 진로·학업 설계 지도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선생님, 물리·화학은 성적 받기 어렵다던데… 과목 고르기가 겁나요.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170992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8" name="Image 0" descr="c0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1024128" y="3246120"/>
            <a:ext cx="1645920" cy="17739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300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희망 학과가 권장하는 과목부터 보자. 대학 입학처가 공개한 ‘학과별 권장이수과목’ 자료가 있어.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V="1">
            <a:off x="454456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14" name="Image 1" descr="c1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3858768" y="3246120"/>
            <a:ext cx="1645920" cy="17739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048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764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1908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수학·과학은 위계가 있어서 순서가 중요해. 일반선택을 먼저 듣고, 그다음에 진로선택으로 이어 가면 돼.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 flipV="1">
            <a:off x="737920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0" name="Image 2" descr="c2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6693408" y="3246120"/>
            <a:ext cx="1645920" cy="17739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512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6228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372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아, 겁먹기 전에 이수 순서부터 세워 보면 되는 거군요!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 flipV="1">
            <a:off x="1021384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6" name="Image 3" descr="c3.png">    </p:cNvPr>
          <p:cNvPicPr>
            <a:picLocks noChangeAspect="1"/>
          </p:cNvPicPr>
          <p:nvPr/>
        </p:nvPicPr>
        <p:blipFill>
          <a:blip r:embed="rId4"/>
          <a:srcRect l="-103" r="-103" t="0" b="0"/>
          <a:stretch/>
        </p:blipFill>
        <p:spPr>
          <a:xfrm>
            <a:off x="9528048" y="3246120"/>
            <a:ext cx="1645920" cy="177393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9828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21208" y="5257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" y="5394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2377440" y="5349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위계가 있는 과목은 이수 순서를 점검한다 (일반선택 → 진로선택)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대학 입학처 공개 ‘학과별 권장이수과목’ 자료로 과목을 설계한다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맑은 고딕"/>
        <a:ea typeface="맑은 고딕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맑은 고딕"/>
        <a:ea typeface="맑은 고딕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</ep:Words>
  <ep:PresentationFormat>화면 슬라이드 쇼(4:3)</ep:PresentationFormat>
  <ep:Paragraphs>2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꿈IT(잇)다 소개</vt:lpstr>
      <vt:lpstr>슬라이드 2</vt:lpstr>
      <vt:lpstr>슬라이드 3</vt:lpstr>
      <vt:lpstr>슬라이드 4</vt:lpstr>
      <vt:lpstr>꿈잇다 메뉴 구경하기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2026-07-01T01:31:17.658</dcterms:created>
  <dc:creator>USER</dc:creator>
  <cp:lastModifiedBy>user</cp:lastModifiedBy>
  <dcterms:modified xsi:type="dcterms:W3CDTF">2026-09-29T08:21:30.527</dcterms:modified>
  <cp:revision>45</cp:revision>
  <dc:title>꿈IT(잇)다 진로검사</dc:title>
  <cp:version>13.0.0.653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